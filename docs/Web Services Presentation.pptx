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1B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02920" y="5029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BCD9F0"/>
                </a:solidFill>
                <a:latin typeface="Calibri"/>
                <a:ea typeface="Calibri"/>
                <a:cs typeface="Calibri"/>
                <a:sym typeface="Calibri"/>
              </a:rPr>
              <a:t>COMP  |  Web Services and Web Data  |  University of Leeds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02920" y="1005840"/>
            <a:ext cx="7863900" cy="9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City Liveability &amp;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Urban Climate Insights API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502920" y="2606040"/>
            <a:ext cx="256032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502920" y="274320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CD9F0"/>
                </a:solidFill>
                <a:latin typeface="Calibri"/>
                <a:ea typeface="Calibri"/>
                <a:cs typeface="Calibri"/>
                <a:sym typeface="Calibri"/>
              </a:rPr>
              <a:t>A data-driven RESTful API with MCP integration for UK city analysis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02920" y="347472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Luke Price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502920" y="3822191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March 2026</a:t>
            </a:r>
            <a:endParaRPr/>
          </a:p>
        </p:txBody>
      </p:sp>
      <p:sp>
        <p:nvSpPr>
          <p:cNvPr id="93" name="Google Shape;93;p13"/>
          <p:cNvSpPr/>
          <p:nvPr/>
        </p:nvSpPr>
        <p:spPr>
          <a:xfrm>
            <a:off x="5623560" y="3246120"/>
            <a:ext cx="1554480" cy="96012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5623560" y="3291839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228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5623560" y="3749039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BCD9F0"/>
                </a:solidFill>
                <a:latin typeface="Calibri"/>
                <a:ea typeface="Calibri"/>
                <a:cs typeface="Calibri"/>
                <a:sym typeface="Calibri"/>
              </a:rPr>
              <a:t>Tests</a:t>
            </a:r>
            <a:endParaRPr/>
          </a:p>
        </p:txBody>
      </p:sp>
      <p:sp>
        <p:nvSpPr>
          <p:cNvPr id="96" name="Google Shape;96;p13"/>
          <p:cNvSpPr/>
          <p:nvPr/>
        </p:nvSpPr>
        <p:spPr>
          <a:xfrm>
            <a:off x="7269480" y="3246120"/>
            <a:ext cx="1554480" cy="96012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7269480" y="3291839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7269480" y="3749039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BCD9F0"/>
                </a:solidFill>
                <a:latin typeface="Calibri"/>
                <a:ea typeface="Calibri"/>
                <a:cs typeface="Calibri"/>
                <a:sym typeface="Calibri"/>
              </a:rPr>
              <a:t>UK Cities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F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1B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365760" y="804672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What it does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365760" y="1115568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Aggregates urban climate, air quality &amp; socioeconomic data for UK cities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365760" y="1389888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Computes composite liveability scores across 4 weighted dimensions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365760" y="1664208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Detects statistical climate anomalies using z-score analysis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365760" y="1938528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Delivers city narratives and comparisons via structured REST endpoints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365760" y="2212848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Exposes an MCP server so LLM agents (e.g. Claude) can query city data conversationally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365760" y="2532887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Why this project?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365760" y="2825496"/>
            <a:ext cx="5029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Sits at the intersection of environmental data and practical AI integration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— extends beyond CRUD into an AI-accessible data service.</a:t>
            </a: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5577840" y="804672"/>
            <a:ext cx="1600200" cy="96012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5577840" y="850392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228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5577840" y="1307592"/>
            <a:ext cx="1600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BCD9F0"/>
                </a:solidFill>
                <a:latin typeface="Calibri"/>
                <a:ea typeface="Calibri"/>
                <a:cs typeface="Calibri"/>
                <a:sym typeface="Calibri"/>
              </a:rPr>
              <a:t>Automated Tests</a:t>
            </a:r>
            <a:endParaRPr/>
          </a:p>
        </p:txBody>
      </p:sp>
      <p:sp>
        <p:nvSpPr>
          <p:cNvPr id="117" name="Google Shape;117;p14"/>
          <p:cNvSpPr/>
          <p:nvPr/>
        </p:nvSpPr>
        <p:spPr>
          <a:xfrm>
            <a:off x="7296912" y="804672"/>
            <a:ext cx="1600200" cy="96012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7296912" y="850392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7296912" y="1307592"/>
            <a:ext cx="1600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BCD9F0"/>
                </a:solidFill>
                <a:latin typeface="Calibri"/>
                <a:ea typeface="Calibri"/>
                <a:cs typeface="Calibri"/>
                <a:sym typeface="Calibri"/>
              </a:rPr>
              <a:t>UK Cities seeded</a:t>
            </a:r>
            <a:endParaRPr/>
          </a:p>
        </p:txBody>
      </p:sp>
      <p:sp>
        <p:nvSpPr>
          <p:cNvPr id="120" name="Google Shape;120;p14"/>
          <p:cNvSpPr/>
          <p:nvPr/>
        </p:nvSpPr>
        <p:spPr>
          <a:xfrm>
            <a:off x="5577840" y="1901952"/>
            <a:ext cx="1600200" cy="96012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/>
        </p:nvSpPr>
        <p:spPr>
          <a:xfrm>
            <a:off x="5577840" y="1947672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5577840" y="2404872"/>
            <a:ext cx="1600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BCD9F0"/>
                </a:solidFill>
                <a:latin typeface="Calibri"/>
                <a:ea typeface="Calibri"/>
                <a:cs typeface="Calibri"/>
                <a:sym typeface="Calibri"/>
              </a:rPr>
              <a:t>MCP Tools</a:t>
            </a:r>
            <a:endParaRPr/>
          </a:p>
        </p:txBody>
      </p:sp>
      <p:sp>
        <p:nvSpPr>
          <p:cNvPr id="123" name="Google Shape;123;p14"/>
          <p:cNvSpPr/>
          <p:nvPr/>
        </p:nvSpPr>
        <p:spPr>
          <a:xfrm>
            <a:off x="7296912" y="1901952"/>
            <a:ext cx="1600200" cy="96012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4"/>
          <p:cNvSpPr txBox="1"/>
          <p:nvPr/>
        </p:nvSpPr>
        <p:spPr>
          <a:xfrm>
            <a:off x="7296912" y="1947672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7296912" y="2404872"/>
            <a:ext cx="1600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BCD9F0"/>
                </a:solidFill>
                <a:latin typeface="Calibri"/>
                <a:ea typeface="Calibri"/>
                <a:cs typeface="Calibri"/>
                <a:sym typeface="Calibri"/>
              </a:rPr>
              <a:t>Analytics endpoints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5577840" y="297180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Data source: Open-Meteo Archive API (free, no API key)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F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1B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Architecture &amp; Technology Stack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320040" y="7772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Application layers</a:t>
            </a:r>
            <a:endParaRPr/>
          </a:p>
        </p:txBody>
      </p:sp>
      <p:sp>
        <p:nvSpPr>
          <p:cNvPr id="135" name="Google Shape;135;p15"/>
          <p:cNvSpPr/>
          <p:nvPr/>
        </p:nvSpPr>
        <p:spPr>
          <a:xfrm>
            <a:off x="320040" y="1097280"/>
            <a:ext cx="4114800" cy="484632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 txBox="1"/>
          <p:nvPr/>
        </p:nvSpPr>
        <p:spPr>
          <a:xfrm>
            <a:off x="320040" y="1097280"/>
            <a:ext cx="411480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HTTP Clients / LLM Agents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2148840" y="1581912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/>
          </a:p>
        </p:txBody>
      </p:sp>
      <p:sp>
        <p:nvSpPr>
          <p:cNvPr id="138" name="Google Shape;138;p15"/>
          <p:cNvSpPr/>
          <p:nvPr/>
        </p:nvSpPr>
        <p:spPr>
          <a:xfrm>
            <a:off x="320040" y="1746504"/>
            <a:ext cx="4114800" cy="484632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 txBox="1"/>
          <p:nvPr/>
        </p:nvSpPr>
        <p:spPr>
          <a:xfrm>
            <a:off x="320040" y="1746504"/>
            <a:ext cx="411480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FastAPI Routers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2148840" y="2231136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/>
          </a:p>
        </p:txBody>
      </p:sp>
      <p:sp>
        <p:nvSpPr>
          <p:cNvPr id="141" name="Google Shape;141;p15"/>
          <p:cNvSpPr/>
          <p:nvPr/>
        </p:nvSpPr>
        <p:spPr>
          <a:xfrm>
            <a:off x="320040" y="2395728"/>
            <a:ext cx="4114800" cy="484632"/>
          </a:xfrm>
          <a:prstGeom prst="rect">
            <a:avLst/>
          </a:prstGeom>
          <a:solidFill>
            <a:srgbClr val="08709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 txBox="1"/>
          <p:nvPr/>
        </p:nvSpPr>
        <p:spPr>
          <a:xfrm>
            <a:off x="320040" y="2395728"/>
            <a:ext cx="411480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Service Layer (business logic)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2148840" y="2880360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/>
          </a:p>
        </p:txBody>
      </p:sp>
      <p:sp>
        <p:nvSpPr>
          <p:cNvPr id="144" name="Google Shape;144;p15"/>
          <p:cNvSpPr/>
          <p:nvPr/>
        </p:nvSpPr>
        <p:spPr>
          <a:xfrm>
            <a:off x="320040" y="3044952"/>
            <a:ext cx="4114800" cy="484632"/>
          </a:xfrm>
          <a:prstGeom prst="rect">
            <a:avLst/>
          </a:prstGeom>
          <a:solidFill>
            <a:srgbClr val="0A85B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 txBox="1"/>
          <p:nvPr/>
        </p:nvSpPr>
        <p:spPr>
          <a:xfrm>
            <a:off x="320040" y="3044952"/>
            <a:ext cx="411480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SQLAlchemy ORM + Pydantic schemas</a:t>
            </a:r>
            <a:endParaRPr/>
          </a:p>
        </p:txBody>
      </p:sp>
      <p:sp>
        <p:nvSpPr>
          <p:cNvPr id="146" name="Google Shape;146;p15"/>
          <p:cNvSpPr/>
          <p:nvPr/>
        </p:nvSpPr>
        <p:spPr>
          <a:xfrm>
            <a:off x="320040" y="3694176"/>
            <a:ext cx="4114800" cy="484632"/>
          </a:xfrm>
          <a:prstGeom prst="rect">
            <a:avLst/>
          </a:prstGeom>
          <a:solidFill>
            <a:srgbClr val="021B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 txBox="1"/>
          <p:nvPr/>
        </p:nvSpPr>
        <p:spPr>
          <a:xfrm>
            <a:off x="320040" y="3694176"/>
            <a:ext cx="411480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SQLite (dev)  /  PostgreSQL (prod)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4754880" y="77724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Technology choices</a:t>
            </a:r>
            <a:endParaRPr/>
          </a:p>
        </p:txBody>
      </p:sp>
      <p:sp>
        <p:nvSpPr>
          <p:cNvPr id="149" name="Google Shape;149;p15"/>
          <p:cNvSpPr/>
          <p:nvPr/>
        </p:nvSpPr>
        <p:spPr>
          <a:xfrm>
            <a:off x="4754880" y="1097280"/>
            <a:ext cx="402336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CD9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/>
          <p:cNvSpPr txBox="1"/>
          <p:nvPr/>
        </p:nvSpPr>
        <p:spPr>
          <a:xfrm>
            <a:off x="4828032" y="1133856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Framework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5870448" y="1133856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FastAPI — async, auto OpenAPI docs, Pydantic v2</a:t>
            </a:r>
            <a:endParaRPr/>
          </a:p>
        </p:txBody>
      </p:sp>
      <p:sp>
        <p:nvSpPr>
          <p:cNvPr id="152" name="Google Shape;152;p15"/>
          <p:cNvSpPr/>
          <p:nvPr/>
        </p:nvSpPr>
        <p:spPr>
          <a:xfrm>
            <a:off x="4754880" y="1536192"/>
            <a:ext cx="402336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CD9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5"/>
          <p:cNvSpPr txBox="1"/>
          <p:nvPr/>
        </p:nvSpPr>
        <p:spPr>
          <a:xfrm>
            <a:off x="4828032" y="1572768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ORM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5870448" y="1572768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SQLAlchemy 2.0 — backend-agnostic, mature query API</a:t>
            </a:r>
            <a:endParaRPr/>
          </a:p>
        </p:txBody>
      </p:sp>
      <p:sp>
        <p:nvSpPr>
          <p:cNvPr id="155" name="Google Shape;155;p15"/>
          <p:cNvSpPr/>
          <p:nvPr/>
        </p:nvSpPr>
        <p:spPr>
          <a:xfrm>
            <a:off x="4754880" y="1975104"/>
            <a:ext cx="402336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CD9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 txBox="1"/>
          <p:nvPr/>
        </p:nvSpPr>
        <p:spPr>
          <a:xfrm>
            <a:off x="4828032" y="2011680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/>
          </a:p>
        </p:txBody>
      </p:sp>
      <p:sp>
        <p:nvSpPr>
          <p:cNvPr id="157" name="Google Shape;157;p15"/>
          <p:cNvSpPr txBox="1"/>
          <p:nvPr/>
        </p:nvSpPr>
        <p:spPr>
          <a:xfrm>
            <a:off x="5870448" y="201168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SQLite (dev) / PostgreSQL via Railway (prod)</a:t>
            </a:r>
            <a:endParaRPr/>
          </a:p>
        </p:txBody>
      </p:sp>
      <p:sp>
        <p:nvSpPr>
          <p:cNvPr id="158" name="Google Shape;158;p15"/>
          <p:cNvSpPr/>
          <p:nvPr/>
        </p:nvSpPr>
        <p:spPr>
          <a:xfrm>
            <a:off x="4754880" y="2414016"/>
            <a:ext cx="402336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CD9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 txBox="1"/>
          <p:nvPr/>
        </p:nvSpPr>
        <p:spPr>
          <a:xfrm>
            <a:off x="4828032" y="2450592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Migrations</a:t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5870448" y="2450592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Alembic — versioned, rollback-safe schema changes</a:t>
            </a:r>
            <a:endParaRPr/>
          </a:p>
        </p:txBody>
      </p:sp>
      <p:sp>
        <p:nvSpPr>
          <p:cNvPr id="161" name="Google Shape;161;p15"/>
          <p:cNvSpPr/>
          <p:nvPr/>
        </p:nvSpPr>
        <p:spPr>
          <a:xfrm>
            <a:off x="4754880" y="2852928"/>
            <a:ext cx="402336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CD9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5"/>
          <p:cNvSpPr txBox="1"/>
          <p:nvPr/>
        </p:nvSpPr>
        <p:spPr>
          <a:xfrm>
            <a:off x="4828032" y="2889504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Auth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5870448" y="2889504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JWT (HS256) + bcrypt hashing + RBAC (user / admin)</a:t>
            </a:r>
            <a:endParaRPr/>
          </a:p>
        </p:txBody>
      </p:sp>
      <p:sp>
        <p:nvSpPr>
          <p:cNvPr id="164" name="Google Shape;164;p15"/>
          <p:cNvSpPr/>
          <p:nvPr/>
        </p:nvSpPr>
        <p:spPr>
          <a:xfrm>
            <a:off x="4754880" y="3291840"/>
            <a:ext cx="402336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CD9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5"/>
          <p:cNvSpPr txBox="1"/>
          <p:nvPr/>
        </p:nvSpPr>
        <p:spPr>
          <a:xfrm>
            <a:off x="4828032" y="3328416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MCP</a:t>
            </a:r>
            <a:endParaRPr/>
          </a:p>
        </p:txBody>
      </p:sp>
      <p:sp>
        <p:nvSpPr>
          <p:cNvPr id="166" name="Google Shape;166;p15"/>
          <p:cNvSpPr txBox="1"/>
          <p:nvPr/>
        </p:nvSpPr>
        <p:spPr>
          <a:xfrm>
            <a:off x="5870448" y="3328416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fastmcp SDK — 9 tools, mounted at /mcp/sse</a:t>
            </a:r>
            <a:endParaRPr/>
          </a:p>
        </p:txBody>
      </p:sp>
      <p:sp>
        <p:nvSpPr>
          <p:cNvPr id="167" name="Google Shape;167;p15"/>
          <p:cNvSpPr/>
          <p:nvPr/>
        </p:nvSpPr>
        <p:spPr>
          <a:xfrm>
            <a:off x="4754880" y="3730752"/>
            <a:ext cx="402336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CD9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5"/>
          <p:cNvSpPr txBox="1"/>
          <p:nvPr/>
        </p:nvSpPr>
        <p:spPr>
          <a:xfrm>
            <a:off x="4828032" y="3767328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Ext. data</a:t>
            </a:r>
            <a:endParaRPr/>
          </a:p>
        </p:txBody>
      </p:sp>
      <p:sp>
        <p:nvSpPr>
          <p:cNvPr id="169" name="Google Shape;169;p15"/>
          <p:cNvSpPr txBox="1"/>
          <p:nvPr/>
        </p:nvSpPr>
        <p:spPr>
          <a:xfrm>
            <a:off x="5870448" y="3767328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Open-Meteo — free historical weather, no API key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6"/>
          <p:cNvSpPr/>
          <p:nvPr/>
        </p:nvSpPr>
        <p:spPr>
          <a:xfrm>
            <a:off x="0" y="24400"/>
            <a:ext cx="9144000" cy="5143500"/>
          </a:xfrm>
          <a:prstGeom prst="rect">
            <a:avLst/>
          </a:prstGeom>
          <a:solidFill>
            <a:srgbClr val="EFF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6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1B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 txBox="1"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 Features &amp; Key Endpoints</a:t>
            </a:r>
            <a:endParaRPr/>
          </a:p>
        </p:txBody>
      </p:sp>
      <p:sp>
        <p:nvSpPr>
          <p:cNvPr id="177" name="Google Shape;177;p16"/>
          <p:cNvSpPr/>
          <p:nvPr/>
        </p:nvSpPr>
        <p:spPr>
          <a:xfrm>
            <a:off x="274320" y="777240"/>
            <a:ext cx="4206240" cy="1691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CD9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6"/>
          <p:cNvSpPr/>
          <p:nvPr/>
        </p:nvSpPr>
        <p:spPr>
          <a:xfrm>
            <a:off x="274320" y="777240"/>
            <a:ext cx="64008" cy="1691640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6"/>
          <p:cNvSpPr txBox="1"/>
          <p:nvPr/>
        </p:nvSpPr>
        <p:spPr>
          <a:xfrm>
            <a:off x="402336" y="832103"/>
            <a:ext cx="40050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CRUD Operations</a:t>
            </a:r>
            <a:endParaRPr/>
          </a:p>
        </p:txBody>
      </p:sp>
      <p:sp>
        <p:nvSpPr>
          <p:cNvPr id="180" name="Google Shape;180;p16"/>
          <p:cNvSpPr txBox="1"/>
          <p:nvPr/>
        </p:nvSpPr>
        <p:spPr>
          <a:xfrm>
            <a:off x="402336" y="1088136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Cities — POST / GET / PUT / DELETE /api/v1/cities</a:t>
            </a:r>
            <a:endParaRPr/>
          </a:p>
        </p:txBody>
      </p:sp>
      <p:sp>
        <p:nvSpPr>
          <p:cNvPr id="181" name="Google Shape;181;p16"/>
          <p:cNvSpPr txBox="1"/>
          <p:nvPr/>
        </p:nvSpPr>
        <p:spPr>
          <a:xfrm>
            <a:off x="402336" y="1289304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Users — register, update profile, admin management</a:t>
            </a:r>
            <a:endParaRPr/>
          </a:p>
        </p:txBody>
      </p:sp>
      <p:sp>
        <p:nvSpPr>
          <p:cNvPr id="182" name="Google Shape;182;p16"/>
          <p:cNvSpPr txBox="1"/>
          <p:nvPr/>
        </p:nvSpPr>
        <p:spPr>
          <a:xfrm>
            <a:off x="402336" y="1490472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Climate readings — ingest, update, bulk delete</a:t>
            </a:r>
            <a:endParaRPr/>
          </a:p>
        </p:txBody>
      </p:sp>
      <p:sp>
        <p:nvSpPr>
          <p:cNvPr id="183" name="Google Shape;183;p16"/>
          <p:cNvSpPr txBox="1"/>
          <p:nvPr/>
        </p:nvSpPr>
        <p:spPr>
          <a:xfrm>
            <a:off x="402336" y="1691639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Auto-seeded with 365 days of real Open-Meteo data</a:t>
            </a:r>
            <a:endParaRPr/>
          </a:p>
        </p:txBody>
      </p:sp>
      <p:sp>
        <p:nvSpPr>
          <p:cNvPr id="184" name="Google Shape;184;p16"/>
          <p:cNvSpPr/>
          <p:nvPr/>
        </p:nvSpPr>
        <p:spPr>
          <a:xfrm>
            <a:off x="4663440" y="777240"/>
            <a:ext cx="4206240" cy="1691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CD9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6"/>
          <p:cNvSpPr/>
          <p:nvPr/>
        </p:nvSpPr>
        <p:spPr>
          <a:xfrm>
            <a:off x="4663440" y="777240"/>
            <a:ext cx="64008" cy="1691640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6"/>
          <p:cNvSpPr txBox="1"/>
          <p:nvPr/>
        </p:nvSpPr>
        <p:spPr>
          <a:xfrm>
            <a:off x="4791455" y="832103"/>
            <a:ext cx="40050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Analytics</a:t>
            </a:r>
            <a:endParaRPr/>
          </a:p>
        </p:txBody>
      </p:sp>
      <p:sp>
        <p:nvSpPr>
          <p:cNvPr id="187" name="Google Shape;187;p16"/>
          <p:cNvSpPr txBox="1"/>
          <p:nvPr/>
        </p:nvSpPr>
        <p:spPr>
          <a:xfrm>
            <a:off x="4791455" y="1088136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GET /cities/{id}/liveability — composite score (4 dims)</a:t>
            </a:r>
            <a:endParaRPr/>
          </a:p>
        </p:txBody>
      </p:sp>
      <p:sp>
        <p:nvSpPr>
          <p:cNvPr id="188" name="Google Shape;188;p16"/>
          <p:cNvSpPr txBox="1"/>
          <p:nvPr/>
        </p:nvSpPr>
        <p:spPr>
          <a:xfrm>
            <a:off x="4791455" y="1289304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GET /cities/compare — side-by-side city ranking</a:t>
            </a:r>
            <a:endParaRPr/>
          </a:p>
        </p:txBody>
      </p:sp>
      <p:sp>
        <p:nvSpPr>
          <p:cNvPr id="189" name="Google Shape;189;p16"/>
          <p:cNvSpPr txBox="1"/>
          <p:nvPr/>
        </p:nvSpPr>
        <p:spPr>
          <a:xfrm>
            <a:off x="4791455" y="1490472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GET /cities/{id}/anomalies — z-score outlier detection</a:t>
            </a:r>
            <a:endParaRPr/>
          </a:p>
        </p:txBody>
      </p:sp>
      <p:sp>
        <p:nvSpPr>
          <p:cNvPr id="190" name="Google Shape;190;p16"/>
          <p:cNvSpPr txBox="1"/>
          <p:nvPr/>
        </p:nvSpPr>
        <p:spPr>
          <a:xfrm>
            <a:off x="4791455" y="1691639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GET /cities/{id}/trends — historical climate trends</a:t>
            </a:r>
            <a:endParaRPr/>
          </a:p>
        </p:txBody>
      </p:sp>
      <p:sp>
        <p:nvSpPr>
          <p:cNvPr id="191" name="Google Shape;191;p16"/>
          <p:cNvSpPr/>
          <p:nvPr/>
        </p:nvSpPr>
        <p:spPr>
          <a:xfrm>
            <a:off x="274320" y="2606040"/>
            <a:ext cx="4206240" cy="1508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CD9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6"/>
          <p:cNvSpPr/>
          <p:nvPr/>
        </p:nvSpPr>
        <p:spPr>
          <a:xfrm>
            <a:off x="274320" y="2606040"/>
            <a:ext cx="64008" cy="1508760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6"/>
          <p:cNvSpPr txBox="1"/>
          <p:nvPr/>
        </p:nvSpPr>
        <p:spPr>
          <a:xfrm>
            <a:off x="402336" y="2660904"/>
            <a:ext cx="40050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/>
          </a:p>
        </p:txBody>
      </p:sp>
      <p:sp>
        <p:nvSpPr>
          <p:cNvPr id="194" name="Google Shape;194;p16"/>
          <p:cNvSpPr txBox="1"/>
          <p:nvPr/>
        </p:nvSpPr>
        <p:spPr>
          <a:xfrm>
            <a:off x="402336" y="2916936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JWT stateless auth — POST /auth/login</a:t>
            </a:r>
            <a:endParaRPr/>
          </a:p>
        </p:txBody>
      </p:sp>
      <p:sp>
        <p:nvSpPr>
          <p:cNvPr id="195" name="Google Shape;195;p16"/>
          <p:cNvSpPr txBox="1"/>
          <p:nvPr/>
        </p:nvSpPr>
        <p:spPr>
          <a:xfrm>
            <a:off x="402336" y="3118104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RBAC — user vs. admin roles, injected at router level</a:t>
            </a:r>
            <a:endParaRPr/>
          </a:p>
        </p:txBody>
      </p:sp>
      <p:sp>
        <p:nvSpPr>
          <p:cNvPr id="196" name="Google Shape;196;p16"/>
          <p:cNvSpPr txBox="1"/>
          <p:nvPr/>
        </p:nvSpPr>
        <p:spPr>
          <a:xfrm>
            <a:off x="402336" y="3319272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Rate limiting — 100 req/min via slowapi middleware</a:t>
            </a:r>
            <a:endParaRPr/>
          </a:p>
        </p:txBody>
      </p:sp>
      <p:sp>
        <p:nvSpPr>
          <p:cNvPr id="197" name="Google Shape;197;p16"/>
          <p:cNvSpPr txBox="1"/>
          <p:nvPr/>
        </p:nvSpPr>
        <p:spPr>
          <a:xfrm>
            <a:off x="402336" y="3520440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bcrypt password hashing, tamper-proof token validation</a:t>
            </a:r>
            <a:endParaRPr/>
          </a:p>
        </p:txBody>
      </p:sp>
      <p:sp>
        <p:nvSpPr>
          <p:cNvPr id="198" name="Google Shape;198;p16"/>
          <p:cNvSpPr/>
          <p:nvPr/>
        </p:nvSpPr>
        <p:spPr>
          <a:xfrm>
            <a:off x="4663440" y="2606040"/>
            <a:ext cx="4206240" cy="1508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CD9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6"/>
          <p:cNvSpPr/>
          <p:nvPr/>
        </p:nvSpPr>
        <p:spPr>
          <a:xfrm>
            <a:off x="4663440" y="2606040"/>
            <a:ext cx="64008" cy="1508760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6"/>
          <p:cNvSpPr txBox="1"/>
          <p:nvPr/>
        </p:nvSpPr>
        <p:spPr>
          <a:xfrm>
            <a:off x="4791455" y="2660904"/>
            <a:ext cx="40050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MCP Server (Advanced)</a:t>
            </a:r>
            <a:endParaRPr/>
          </a:p>
        </p:txBody>
      </p:sp>
      <p:sp>
        <p:nvSpPr>
          <p:cNvPr id="201" name="Google Shape;201;p16"/>
          <p:cNvSpPr txBox="1"/>
          <p:nvPr/>
        </p:nvSpPr>
        <p:spPr>
          <a:xfrm>
            <a:off x="4791455" y="2916936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9 AI tools: search, liveability, anomalies, trends, record</a:t>
            </a:r>
            <a:endParaRPr/>
          </a:p>
        </p:txBody>
      </p:sp>
      <p:sp>
        <p:nvSpPr>
          <p:cNvPr id="202" name="Google Shape;202;p16"/>
          <p:cNvSpPr txBox="1"/>
          <p:nvPr/>
        </p:nvSpPr>
        <p:spPr>
          <a:xfrm>
            <a:off x="4791455" y="3118104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Mounted at /mcp/sse — no separate deployment needed</a:t>
            </a:r>
            <a:endParaRPr/>
          </a:p>
        </p:txBody>
      </p:sp>
      <p:sp>
        <p:nvSpPr>
          <p:cNvPr id="203" name="Google Shape;203;p16"/>
          <p:cNvSpPr txBox="1"/>
          <p:nvPr/>
        </p:nvSpPr>
        <p:spPr>
          <a:xfrm>
            <a:off x="4791455" y="3319272"/>
            <a:ext cx="4005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Claude Desktop connects to Railway URL directly</a:t>
            </a:r>
            <a:endParaRPr/>
          </a:p>
        </p:txBody>
      </p:sp>
      <p:sp>
        <p:nvSpPr>
          <p:cNvPr id="204" name="Google Shape;204;p16"/>
          <p:cNvSpPr txBox="1"/>
          <p:nvPr/>
        </p:nvSpPr>
        <p:spPr>
          <a:xfrm>
            <a:off x="4791455" y="3520440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LLMs query UK city data conversationally via tool calls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F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7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1B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7"/>
          <p:cNvSpPr txBox="1"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Version Control &amp; Testing</a:t>
            </a:r>
            <a:endParaRPr/>
          </a:p>
        </p:txBody>
      </p:sp>
      <p:sp>
        <p:nvSpPr>
          <p:cNvPr id="212" name="Google Shape;212;p17"/>
          <p:cNvSpPr/>
          <p:nvPr/>
        </p:nvSpPr>
        <p:spPr>
          <a:xfrm>
            <a:off x="274320" y="777240"/>
            <a:ext cx="4114800" cy="347472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7"/>
          <p:cNvSpPr txBox="1"/>
          <p:nvPr/>
        </p:nvSpPr>
        <p:spPr>
          <a:xfrm>
            <a:off x="365760" y="804672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Version Control Practices</a:t>
            </a:r>
            <a:endParaRPr/>
          </a:p>
        </p:txBody>
      </p:sp>
      <p:sp>
        <p:nvSpPr>
          <p:cNvPr id="214" name="Google Shape;214;p17"/>
          <p:cNvSpPr txBox="1"/>
          <p:nvPr/>
        </p:nvSpPr>
        <p:spPr>
          <a:xfrm>
            <a:off x="365760" y="1188720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Public GitHub repo</a:t>
            </a:r>
            <a:endParaRPr/>
          </a:p>
        </p:txBody>
      </p:sp>
      <p:sp>
        <p:nvSpPr>
          <p:cNvPr id="215" name="Google Shape;215;p17"/>
          <p:cNvSpPr txBox="1"/>
          <p:nvPr/>
        </p:nvSpPr>
        <p:spPr>
          <a:xfrm>
            <a:off x="1920240" y="1188720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Visible commit history from initial scaffold to final submission</a:t>
            </a:r>
            <a:endParaRPr/>
          </a:p>
        </p:txBody>
      </p:sp>
      <p:sp>
        <p:nvSpPr>
          <p:cNvPr id="216" name="Google Shape;216;p17"/>
          <p:cNvSpPr txBox="1"/>
          <p:nvPr/>
        </p:nvSpPr>
        <p:spPr>
          <a:xfrm>
            <a:off x="365760" y="1426464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Structured commits</a:t>
            </a:r>
            <a:endParaRPr/>
          </a:p>
        </p:txBody>
      </p:sp>
      <p:sp>
        <p:nvSpPr>
          <p:cNvPr id="217" name="Google Shape;217;p17"/>
          <p:cNvSpPr txBox="1"/>
          <p:nvPr/>
        </p:nvSpPr>
        <p:spPr>
          <a:xfrm>
            <a:off x="1920240" y="1426464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Descriptive messages — feature, fix, test, config scopes</a:t>
            </a:r>
            <a:endParaRPr/>
          </a:p>
        </p:txBody>
      </p:sp>
      <p:sp>
        <p:nvSpPr>
          <p:cNvPr id="218" name="Google Shape;218;p17"/>
          <p:cNvSpPr txBox="1"/>
          <p:nvPr/>
        </p:nvSpPr>
        <p:spPr>
          <a:xfrm>
            <a:off x="365760" y="1664208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Alembic migrations</a:t>
            </a:r>
            <a:endParaRPr/>
          </a:p>
        </p:txBody>
      </p:sp>
      <p:sp>
        <p:nvSpPr>
          <p:cNvPr id="219" name="Google Shape;219;p17"/>
          <p:cNvSpPr txBox="1"/>
          <p:nvPr/>
        </p:nvSpPr>
        <p:spPr>
          <a:xfrm>
            <a:off x="1920240" y="1664208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All schema changes versioned and reversible in the repo</a:t>
            </a:r>
            <a:endParaRPr/>
          </a:p>
        </p:txBody>
      </p:sp>
      <p:sp>
        <p:nvSpPr>
          <p:cNvPr id="220" name="Google Shape;220;p17"/>
          <p:cNvSpPr txBox="1"/>
          <p:nvPr/>
        </p:nvSpPr>
        <p:spPr>
          <a:xfrm>
            <a:off x="365760" y="1901952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README.md</a:t>
            </a:r>
            <a:endParaRPr/>
          </a:p>
        </p:txBody>
      </p:sp>
      <p:sp>
        <p:nvSpPr>
          <p:cNvPr id="221" name="Google Shape;221;p17"/>
          <p:cNvSpPr txBox="1"/>
          <p:nvPr/>
        </p:nvSpPr>
        <p:spPr>
          <a:xfrm>
            <a:off x="1920240" y="1901952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Setup instructions, environment variables, local run guide</a:t>
            </a:r>
            <a:endParaRPr/>
          </a:p>
        </p:txBody>
      </p:sp>
      <p:sp>
        <p:nvSpPr>
          <p:cNvPr id="222" name="Google Shape;222;p17"/>
          <p:cNvSpPr txBox="1"/>
          <p:nvPr/>
        </p:nvSpPr>
        <p:spPr>
          <a:xfrm>
            <a:off x="365760" y="2139696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Environment config</a:t>
            </a:r>
            <a:endParaRPr/>
          </a:p>
        </p:txBody>
      </p:sp>
      <p:sp>
        <p:nvSpPr>
          <p:cNvPr id="223" name="Google Shape;223;p17"/>
          <p:cNvSpPr txBox="1"/>
          <p:nvPr/>
        </p:nvSpPr>
        <p:spPr>
          <a:xfrm>
            <a:off x="1920240" y="2139696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SKIP_SEED flag prevents external HTTP calls during testing</a:t>
            </a:r>
            <a:endParaRPr/>
          </a:p>
        </p:txBody>
      </p:sp>
      <p:sp>
        <p:nvSpPr>
          <p:cNvPr id="224" name="Google Shape;224;p17"/>
          <p:cNvSpPr/>
          <p:nvPr/>
        </p:nvSpPr>
        <p:spPr>
          <a:xfrm>
            <a:off x="4754880" y="777240"/>
            <a:ext cx="4114800" cy="347472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7"/>
          <p:cNvSpPr txBox="1"/>
          <p:nvPr/>
        </p:nvSpPr>
        <p:spPr>
          <a:xfrm>
            <a:off x="4846320" y="804672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228 Tests across 11 modules</a:t>
            </a:r>
            <a:endParaRPr/>
          </a:p>
        </p:txBody>
      </p:sp>
      <p:sp>
        <p:nvSpPr>
          <p:cNvPr id="226" name="Google Shape;226;p17"/>
          <p:cNvSpPr/>
          <p:nvPr/>
        </p:nvSpPr>
        <p:spPr>
          <a:xfrm>
            <a:off x="4754880" y="1188720"/>
            <a:ext cx="960120" cy="219456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7"/>
          <p:cNvSpPr txBox="1"/>
          <p:nvPr/>
        </p:nvSpPr>
        <p:spPr>
          <a:xfrm>
            <a:off x="4773168" y="1207008"/>
            <a:ext cx="923544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Integration</a:t>
            </a:r>
            <a:endParaRPr/>
          </a:p>
        </p:txBody>
      </p:sp>
      <p:sp>
        <p:nvSpPr>
          <p:cNvPr id="228" name="Google Shape;228;p17"/>
          <p:cNvSpPr txBox="1"/>
          <p:nvPr/>
        </p:nvSpPr>
        <p:spPr>
          <a:xfrm>
            <a:off x="5760720" y="1188720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Full req/resp cycles, in-memory SQLite, seeded fixtures</a:t>
            </a:r>
            <a:endParaRPr/>
          </a:p>
        </p:txBody>
      </p:sp>
      <p:sp>
        <p:nvSpPr>
          <p:cNvPr id="229" name="Google Shape;229;p17"/>
          <p:cNvSpPr/>
          <p:nvPr/>
        </p:nvSpPr>
        <p:spPr>
          <a:xfrm>
            <a:off x="4754880" y="1444752"/>
            <a:ext cx="960120" cy="219456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7"/>
          <p:cNvSpPr txBox="1"/>
          <p:nvPr/>
        </p:nvSpPr>
        <p:spPr>
          <a:xfrm>
            <a:off x="4773168" y="1463040"/>
            <a:ext cx="923544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Unit</a:t>
            </a:r>
            <a:endParaRPr/>
          </a:p>
        </p:txBody>
      </p:sp>
      <p:sp>
        <p:nvSpPr>
          <p:cNvPr id="231" name="Google Shape;231;p17"/>
          <p:cNvSpPr txBox="1"/>
          <p:nvPr/>
        </p:nvSpPr>
        <p:spPr>
          <a:xfrm>
            <a:off x="5760720" y="1444752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Service layer with real (temporary) SQLite sessions</a:t>
            </a:r>
            <a:endParaRPr/>
          </a:p>
        </p:txBody>
      </p:sp>
      <p:sp>
        <p:nvSpPr>
          <p:cNvPr id="232" name="Google Shape;232;p17"/>
          <p:cNvSpPr/>
          <p:nvPr/>
        </p:nvSpPr>
        <p:spPr>
          <a:xfrm>
            <a:off x="4754880" y="1700784"/>
            <a:ext cx="960120" cy="219456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7"/>
          <p:cNvSpPr txBox="1"/>
          <p:nvPr/>
        </p:nvSpPr>
        <p:spPr>
          <a:xfrm>
            <a:off x="4773168" y="1719072"/>
            <a:ext cx="923544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/>
          </a:p>
        </p:txBody>
      </p:sp>
      <p:sp>
        <p:nvSpPr>
          <p:cNvPr id="234" name="Google Shape;234;p17"/>
          <p:cNvSpPr txBox="1"/>
          <p:nvPr/>
        </p:nvSpPr>
        <p:spPr>
          <a:xfrm>
            <a:off x="5760720" y="1700784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401 on unauth, 403 on non-admin, tampered JWT rejection</a:t>
            </a:r>
            <a:endParaRPr/>
          </a:p>
        </p:txBody>
      </p:sp>
      <p:sp>
        <p:nvSpPr>
          <p:cNvPr id="235" name="Google Shape;235;p17"/>
          <p:cNvSpPr/>
          <p:nvPr/>
        </p:nvSpPr>
        <p:spPr>
          <a:xfrm>
            <a:off x="4754880" y="1956816"/>
            <a:ext cx="960120" cy="219456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7"/>
          <p:cNvSpPr txBox="1"/>
          <p:nvPr/>
        </p:nvSpPr>
        <p:spPr>
          <a:xfrm>
            <a:off x="4773168" y="1975104"/>
            <a:ext cx="923544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Utility</a:t>
            </a:r>
            <a:endParaRPr/>
          </a:p>
        </p:txBody>
      </p:sp>
      <p:sp>
        <p:nvSpPr>
          <p:cNvPr id="237" name="Google Shape;237;p17"/>
          <p:cNvSpPr txBox="1"/>
          <p:nvPr/>
        </p:nvSpPr>
        <p:spPr>
          <a:xfrm>
            <a:off x="5760720" y="1956816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Scoring algorithm &amp; SQL validator with edge-case inputs</a:t>
            </a:r>
            <a:endParaRPr/>
          </a:p>
        </p:txBody>
      </p:sp>
      <p:sp>
        <p:nvSpPr>
          <p:cNvPr id="238" name="Google Shape;238;p17"/>
          <p:cNvSpPr/>
          <p:nvPr/>
        </p:nvSpPr>
        <p:spPr>
          <a:xfrm>
            <a:off x="4754880" y="2212848"/>
            <a:ext cx="960120" cy="219456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7"/>
          <p:cNvSpPr txBox="1"/>
          <p:nvPr/>
        </p:nvSpPr>
        <p:spPr>
          <a:xfrm>
            <a:off x="4773168" y="2231136"/>
            <a:ext cx="923544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Middleware</a:t>
            </a:r>
            <a:endParaRPr/>
          </a:p>
        </p:txBody>
      </p:sp>
      <p:sp>
        <p:nvSpPr>
          <p:cNvPr id="240" name="Google Shape;240;p17"/>
          <p:cNvSpPr txBox="1"/>
          <p:nvPr/>
        </p:nvSpPr>
        <p:spPr>
          <a:xfrm>
            <a:off x="5760720" y="2212848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Rate limiter triggers at threshold; latency logging fields</a:t>
            </a:r>
            <a:endParaRPr/>
          </a:p>
        </p:txBody>
      </p:sp>
      <p:sp>
        <p:nvSpPr>
          <p:cNvPr id="241" name="Google Shape;241;p17"/>
          <p:cNvSpPr txBox="1"/>
          <p:nvPr/>
        </p:nvSpPr>
        <p:spPr>
          <a:xfrm>
            <a:off x="4754880" y="2505456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Key decision: real SQLite sessions over mocked DB calls — mocks can mask schema-level bugs that only appear when the ORM generates actual SQL.</a:t>
            </a:r>
            <a:endParaRPr/>
          </a:p>
        </p:txBody>
      </p:sp>
      <p:sp>
        <p:nvSpPr>
          <p:cNvPr id="242" name="Google Shape;242;p17"/>
          <p:cNvSpPr/>
          <p:nvPr/>
        </p:nvSpPr>
        <p:spPr>
          <a:xfrm>
            <a:off x="4434840" y="777240"/>
            <a:ext cx="36576" cy="4023360"/>
          </a:xfrm>
          <a:prstGeom prst="rect">
            <a:avLst/>
          </a:prstGeom>
          <a:solidFill>
            <a:srgbClr val="BCD9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F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8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1B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8"/>
          <p:cNvSpPr txBox="1"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 Documentation</a:t>
            </a:r>
            <a:endParaRPr/>
          </a:p>
        </p:txBody>
      </p:sp>
      <p:sp>
        <p:nvSpPr>
          <p:cNvPr id="250" name="Google Shape;250;p18"/>
          <p:cNvSpPr/>
          <p:nvPr/>
        </p:nvSpPr>
        <p:spPr>
          <a:xfrm>
            <a:off x="274320" y="777240"/>
            <a:ext cx="2834640" cy="384048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8"/>
          <p:cNvSpPr txBox="1"/>
          <p:nvPr/>
        </p:nvSpPr>
        <p:spPr>
          <a:xfrm>
            <a:off x="365760" y="804672"/>
            <a:ext cx="2651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Swagger UI</a:t>
            </a:r>
            <a:endParaRPr/>
          </a:p>
        </p:txBody>
      </p:sp>
      <p:sp>
        <p:nvSpPr>
          <p:cNvPr id="252" name="Google Shape;252;p18"/>
          <p:cNvSpPr/>
          <p:nvPr/>
        </p:nvSpPr>
        <p:spPr>
          <a:xfrm>
            <a:off x="274320" y="1161288"/>
            <a:ext cx="2834640" cy="2743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8"/>
          <p:cNvSpPr txBox="1"/>
          <p:nvPr/>
        </p:nvSpPr>
        <p:spPr>
          <a:xfrm>
            <a:off x="365760" y="1188720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/docs</a:t>
            </a:r>
            <a:endParaRPr/>
          </a:p>
        </p:txBody>
      </p:sp>
      <p:sp>
        <p:nvSpPr>
          <p:cNvPr id="254" name="Google Shape;254;p18"/>
          <p:cNvSpPr txBox="1"/>
          <p:nvPr/>
        </p:nvSpPr>
        <p:spPr>
          <a:xfrm>
            <a:off x="365760" y="1490472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Interactive try-it-out for every endpoint</a:t>
            </a:r>
            <a:endParaRPr/>
          </a:p>
        </p:txBody>
      </p:sp>
      <p:sp>
        <p:nvSpPr>
          <p:cNvPr id="255" name="Google Shape;255;p18"/>
          <p:cNvSpPr txBox="1"/>
          <p:nvPr/>
        </p:nvSpPr>
        <p:spPr>
          <a:xfrm>
            <a:off x="365760" y="1764792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Auto-generated from Python type annotations</a:t>
            </a:r>
            <a:endParaRPr/>
          </a:p>
        </p:txBody>
      </p:sp>
      <p:sp>
        <p:nvSpPr>
          <p:cNvPr id="256" name="Google Shape;256;p18"/>
          <p:cNvSpPr txBox="1"/>
          <p:nvPr/>
        </p:nvSpPr>
        <p:spPr>
          <a:xfrm>
            <a:off x="365760" y="2039112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Auth flow: Authorize button with JWT bearer</a:t>
            </a:r>
            <a:endParaRPr/>
          </a:p>
        </p:txBody>
      </p:sp>
      <p:sp>
        <p:nvSpPr>
          <p:cNvPr id="257" name="Google Shape;257;p18"/>
          <p:cNvSpPr/>
          <p:nvPr/>
        </p:nvSpPr>
        <p:spPr>
          <a:xfrm>
            <a:off x="3246120" y="777240"/>
            <a:ext cx="2834640" cy="384048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8"/>
          <p:cNvSpPr txBox="1"/>
          <p:nvPr/>
        </p:nvSpPr>
        <p:spPr>
          <a:xfrm>
            <a:off x="3337560" y="804672"/>
            <a:ext cx="2651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ReDoc</a:t>
            </a:r>
            <a:endParaRPr/>
          </a:p>
        </p:txBody>
      </p:sp>
      <p:sp>
        <p:nvSpPr>
          <p:cNvPr id="259" name="Google Shape;259;p18"/>
          <p:cNvSpPr/>
          <p:nvPr/>
        </p:nvSpPr>
        <p:spPr>
          <a:xfrm>
            <a:off x="3246120" y="1161288"/>
            <a:ext cx="2834640" cy="2743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8"/>
          <p:cNvSpPr txBox="1"/>
          <p:nvPr/>
        </p:nvSpPr>
        <p:spPr>
          <a:xfrm>
            <a:off x="3337560" y="1188720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/redoc</a:t>
            </a:r>
            <a:endParaRPr/>
          </a:p>
        </p:txBody>
      </p:sp>
      <p:sp>
        <p:nvSpPr>
          <p:cNvPr id="261" name="Google Shape;261;p18"/>
          <p:cNvSpPr txBox="1"/>
          <p:nvPr/>
        </p:nvSpPr>
        <p:spPr>
          <a:xfrm>
            <a:off x="3337560" y="1490472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Clean, reference-style documentation</a:t>
            </a:r>
            <a:endParaRPr/>
          </a:p>
        </p:txBody>
      </p:sp>
      <p:sp>
        <p:nvSpPr>
          <p:cNvPr id="262" name="Google Shape;262;p18"/>
          <p:cNvSpPr txBox="1"/>
          <p:nvPr/>
        </p:nvSpPr>
        <p:spPr>
          <a:xfrm>
            <a:off x="3337560" y="1764792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Schema definitions with example payloads</a:t>
            </a:r>
            <a:endParaRPr/>
          </a:p>
        </p:txBody>
      </p:sp>
      <p:sp>
        <p:nvSpPr>
          <p:cNvPr id="263" name="Google Shape;263;p18"/>
          <p:cNvSpPr txBox="1"/>
          <p:nvPr/>
        </p:nvSpPr>
        <p:spPr>
          <a:xfrm>
            <a:off x="3337560" y="2039112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Accessible without authentication</a:t>
            </a:r>
            <a:endParaRPr/>
          </a:p>
        </p:txBody>
      </p:sp>
      <p:sp>
        <p:nvSpPr>
          <p:cNvPr id="264" name="Google Shape;264;p18"/>
          <p:cNvSpPr/>
          <p:nvPr/>
        </p:nvSpPr>
        <p:spPr>
          <a:xfrm>
            <a:off x="6217920" y="777240"/>
            <a:ext cx="2834640" cy="384048"/>
          </a:xfrm>
          <a:prstGeom prst="rect">
            <a:avLst/>
          </a:prstGeom>
          <a:solidFill>
            <a:srgbClr val="02846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8"/>
          <p:cNvSpPr txBox="1"/>
          <p:nvPr/>
        </p:nvSpPr>
        <p:spPr>
          <a:xfrm>
            <a:off x="6309359" y="804672"/>
            <a:ext cx="2651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PDF Export</a:t>
            </a:r>
            <a:endParaRPr/>
          </a:p>
        </p:txBody>
      </p:sp>
      <p:sp>
        <p:nvSpPr>
          <p:cNvPr id="266" name="Google Shape;266;p18"/>
          <p:cNvSpPr/>
          <p:nvPr/>
        </p:nvSpPr>
        <p:spPr>
          <a:xfrm>
            <a:off x="6217920" y="1161288"/>
            <a:ext cx="2834640" cy="2743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8"/>
          <p:cNvSpPr txBox="1"/>
          <p:nvPr/>
        </p:nvSpPr>
        <p:spPr>
          <a:xfrm>
            <a:off x="6309359" y="1188720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docs/api_documentation.pdf</a:t>
            </a:r>
            <a:endParaRPr/>
          </a:p>
        </p:txBody>
      </p:sp>
      <p:sp>
        <p:nvSpPr>
          <p:cNvPr id="268" name="Google Shape;268;p18"/>
          <p:cNvSpPr txBox="1"/>
          <p:nvPr/>
        </p:nvSpPr>
        <p:spPr>
          <a:xfrm>
            <a:off x="6309359" y="1490472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Submitted to Minerva and linked in README.md</a:t>
            </a:r>
            <a:endParaRPr/>
          </a:p>
        </p:txBody>
      </p:sp>
      <p:sp>
        <p:nvSpPr>
          <p:cNvPr id="269" name="Google Shape;269;p18"/>
          <p:cNvSpPr txBox="1"/>
          <p:nvPr/>
        </p:nvSpPr>
        <p:spPr>
          <a:xfrm>
            <a:off x="6309359" y="1764792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Generated from Swagger JSON</a:t>
            </a:r>
            <a:endParaRPr/>
          </a:p>
        </p:txBody>
      </p:sp>
      <p:sp>
        <p:nvSpPr>
          <p:cNvPr id="270" name="Google Shape;270;p18"/>
          <p:cNvSpPr txBox="1"/>
          <p:nvPr/>
        </p:nvSpPr>
        <p:spPr>
          <a:xfrm>
            <a:off x="6309359" y="2039112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Full endpoint list with request/response schemas</a:t>
            </a:r>
            <a:endParaRPr/>
          </a:p>
        </p:txBody>
      </p:sp>
      <p:sp>
        <p:nvSpPr>
          <p:cNvPr id="271" name="Google Shape;271;p18"/>
          <p:cNvSpPr txBox="1"/>
          <p:nvPr/>
        </p:nvSpPr>
        <p:spPr>
          <a:xfrm>
            <a:off x="274320" y="333756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All endpoints document:</a:t>
            </a:r>
            <a:endParaRPr/>
          </a:p>
        </p:txBody>
      </p:sp>
      <p:sp>
        <p:nvSpPr>
          <p:cNvPr id="272" name="Google Shape;272;p18"/>
          <p:cNvSpPr txBox="1"/>
          <p:nvPr/>
        </p:nvSpPr>
        <p:spPr>
          <a:xfrm>
            <a:off x="274320" y="3639312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HTTP method, path, and path/query parameters</a:t>
            </a:r>
            <a:endParaRPr/>
          </a:p>
        </p:txBody>
      </p:sp>
      <p:sp>
        <p:nvSpPr>
          <p:cNvPr id="273" name="Google Shape;273;p18"/>
          <p:cNvSpPr txBox="1"/>
          <p:nvPr/>
        </p:nvSpPr>
        <p:spPr>
          <a:xfrm>
            <a:off x="274320" y="3858768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Request body schema (Pydantic models)</a:t>
            </a:r>
            <a:endParaRPr/>
          </a:p>
        </p:txBody>
      </p:sp>
      <p:sp>
        <p:nvSpPr>
          <p:cNvPr id="274" name="Google Shape;274;p18"/>
          <p:cNvSpPr txBox="1"/>
          <p:nvPr/>
        </p:nvSpPr>
        <p:spPr>
          <a:xfrm>
            <a:off x="274320" y="4078224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Response model and status codes (200, 201, 401, 403, 404, 422, 429)</a:t>
            </a:r>
            <a:endParaRPr/>
          </a:p>
        </p:txBody>
      </p:sp>
      <p:sp>
        <p:nvSpPr>
          <p:cNvPr id="275" name="Google Shape;275;p18"/>
          <p:cNvSpPr txBox="1"/>
          <p:nvPr/>
        </p:nvSpPr>
        <p:spPr>
          <a:xfrm>
            <a:off x="274320" y="4297680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Authentication requirements and example payloads</a:t>
            </a:r>
            <a:endParaRPr/>
          </a:p>
        </p:txBody>
      </p:sp>
      <p:sp>
        <p:nvSpPr>
          <p:cNvPr id="276" name="Google Shape;276;p18"/>
          <p:cNvSpPr/>
          <p:nvPr/>
        </p:nvSpPr>
        <p:spPr>
          <a:xfrm>
            <a:off x="4663440" y="3337560"/>
            <a:ext cx="4206240" cy="896112"/>
          </a:xfrm>
          <a:prstGeom prst="rect">
            <a:avLst/>
          </a:prstGeom>
          <a:solidFill>
            <a:srgbClr val="E8F4FF"/>
          </a:solidFill>
          <a:ln cap="flat" cmpd="sng" w="9525">
            <a:solidFill>
              <a:srgbClr val="BCD9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8"/>
          <p:cNvSpPr txBox="1"/>
          <p:nvPr/>
        </p:nvSpPr>
        <p:spPr>
          <a:xfrm>
            <a:off x="4773168" y="3383280"/>
            <a:ext cx="39867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Submission compliance</a:t>
            </a:r>
            <a:endParaRPr/>
          </a:p>
        </p:txBody>
      </p:sp>
      <p:sp>
        <p:nvSpPr>
          <p:cNvPr id="278" name="Google Shape;278;p18"/>
          <p:cNvSpPr txBox="1"/>
          <p:nvPr/>
        </p:nvSpPr>
        <p:spPr>
          <a:xfrm>
            <a:off x="4773168" y="3639312"/>
            <a:ext cx="398678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PDF referenced in README.md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Hosted in GitHub repo under /docs/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Also linked in Technical Report appendix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F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9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1B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9"/>
          <p:cNvSpPr txBox="1"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Technical Report Highlights</a:t>
            </a:r>
            <a:endParaRPr/>
          </a:p>
        </p:txBody>
      </p:sp>
      <p:sp>
        <p:nvSpPr>
          <p:cNvPr id="286" name="Google Shape;286;p19"/>
          <p:cNvSpPr/>
          <p:nvPr/>
        </p:nvSpPr>
        <p:spPr>
          <a:xfrm>
            <a:off x="274320" y="804672"/>
            <a:ext cx="859536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CD9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9"/>
          <p:cNvSpPr/>
          <p:nvPr/>
        </p:nvSpPr>
        <p:spPr>
          <a:xfrm>
            <a:off x="274320" y="804672"/>
            <a:ext cx="64008" cy="658368"/>
          </a:xfrm>
          <a:prstGeom prst="rect">
            <a:avLst/>
          </a:prstGeom>
          <a:solidFill>
            <a:srgbClr val="02C39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9"/>
          <p:cNvSpPr txBox="1"/>
          <p:nvPr/>
        </p:nvSpPr>
        <p:spPr>
          <a:xfrm>
            <a:off x="438912" y="84124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Stack Justification</a:t>
            </a:r>
            <a:endParaRPr/>
          </a:p>
        </p:txBody>
      </p:sp>
      <p:sp>
        <p:nvSpPr>
          <p:cNvPr id="289" name="Google Shape;289;p19"/>
          <p:cNvSpPr txBox="1"/>
          <p:nvPr/>
        </p:nvSpPr>
        <p:spPr>
          <a:xfrm>
            <a:off x="2423160" y="859536"/>
            <a:ext cx="6355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FastAPI chosen over Django for native async, auto-OpenAPI, and Pydantic v2 throughput. NoSQL ruled out — relational JOINs across cities, climate, and socioeconomic data are more efficient.</a:t>
            </a:r>
            <a:endParaRPr/>
          </a:p>
        </p:txBody>
      </p:sp>
      <p:sp>
        <p:nvSpPr>
          <p:cNvPr id="290" name="Google Shape;290;p19"/>
          <p:cNvSpPr/>
          <p:nvPr/>
        </p:nvSpPr>
        <p:spPr>
          <a:xfrm>
            <a:off x="274320" y="1536192"/>
            <a:ext cx="859536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CD9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9"/>
          <p:cNvSpPr/>
          <p:nvPr/>
        </p:nvSpPr>
        <p:spPr>
          <a:xfrm>
            <a:off x="274320" y="1536192"/>
            <a:ext cx="64008" cy="658368"/>
          </a:xfrm>
          <a:prstGeom prst="rect">
            <a:avLst/>
          </a:prstGeom>
          <a:solidFill>
            <a:srgbClr val="02C39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9"/>
          <p:cNvSpPr txBox="1"/>
          <p:nvPr/>
        </p:nvSpPr>
        <p:spPr>
          <a:xfrm>
            <a:off x="438912" y="157276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Scoring Model</a:t>
            </a:r>
            <a:endParaRPr/>
          </a:p>
        </p:txBody>
      </p:sp>
      <p:sp>
        <p:nvSpPr>
          <p:cNvPr id="293" name="Google Shape;293;p19"/>
          <p:cNvSpPr txBox="1"/>
          <p:nvPr/>
        </p:nvSpPr>
        <p:spPr>
          <a:xfrm>
            <a:off x="2423160" y="1591056"/>
            <a:ext cx="6355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Composite liveability: climate comfort 25%, affordability 30%, safety 25%, environment 20%. Each metric normalised 0–100 using domain-specific functions (e.g. AQI inverted).</a:t>
            </a:r>
            <a:endParaRPr/>
          </a:p>
        </p:txBody>
      </p:sp>
      <p:sp>
        <p:nvSpPr>
          <p:cNvPr id="294" name="Google Shape;294;p19"/>
          <p:cNvSpPr/>
          <p:nvPr/>
        </p:nvSpPr>
        <p:spPr>
          <a:xfrm>
            <a:off x="274320" y="2267712"/>
            <a:ext cx="859536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CD9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9"/>
          <p:cNvSpPr/>
          <p:nvPr/>
        </p:nvSpPr>
        <p:spPr>
          <a:xfrm>
            <a:off x="274320" y="2267712"/>
            <a:ext cx="64008" cy="658368"/>
          </a:xfrm>
          <a:prstGeom prst="rect">
            <a:avLst/>
          </a:prstGeom>
          <a:solidFill>
            <a:srgbClr val="02C39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9"/>
          <p:cNvSpPr txBox="1"/>
          <p:nvPr/>
        </p:nvSpPr>
        <p:spPr>
          <a:xfrm>
            <a:off x="438912" y="230428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Anomaly Detection</a:t>
            </a:r>
            <a:endParaRPr/>
          </a:p>
        </p:txBody>
      </p:sp>
      <p:sp>
        <p:nvSpPr>
          <p:cNvPr id="297" name="Google Shape;297;p19"/>
          <p:cNvSpPr txBox="1"/>
          <p:nvPr/>
        </p:nvSpPr>
        <p:spPr>
          <a:xfrm>
            <a:off x="2423160" y="2322576"/>
            <a:ext cx="6355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Z-score method: compute mean/std across all stored readings for a city+metric pair; flag dates where |z| &gt; 2.0. Statistically sound; no external ML library required.</a:t>
            </a:r>
            <a:endParaRPr/>
          </a:p>
        </p:txBody>
      </p:sp>
      <p:sp>
        <p:nvSpPr>
          <p:cNvPr id="298" name="Google Shape;298;p19"/>
          <p:cNvSpPr/>
          <p:nvPr/>
        </p:nvSpPr>
        <p:spPr>
          <a:xfrm>
            <a:off x="274320" y="2999232"/>
            <a:ext cx="859536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CD9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9"/>
          <p:cNvSpPr/>
          <p:nvPr/>
        </p:nvSpPr>
        <p:spPr>
          <a:xfrm>
            <a:off x="274320" y="2999232"/>
            <a:ext cx="64008" cy="658368"/>
          </a:xfrm>
          <a:prstGeom prst="rect">
            <a:avLst/>
          </a:prstGeom>
          <a:solidFill>
            <a:srgbClr val="02C39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9"/>
          <p:cNvSpPr txBox="1"/>
          <p:nvPr/>
        </p:nvSpPr>
        <p:spPr>
          <a:xfrm>
            <a:off x="438912" y="303580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Key Design Challenge</a:t>
            </a:r>
            <a:endParaRPr/>
          </a:p>
        </p:txBody>
      </p:sp>
      <p:sp>
        <p:nvSpPr>
          <p:cNvPr id="301" name="Google Shape;301;p19"/>
          <p:cNvSpPr txBox="1"/>
          <p:nvPr/>
        </p:nvSpPr>
        <p:spPr>
          <a:xfrm>
            <a:off x="2423160" y="3054096"/>
            <a:ext cx="6355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Router ordering — GET /cities/compare must register before GET /cities/{city_id} or FastAPI matches 'compare' as a city_id. Documented in main.py.</a:t>
            </a:r>
            <a:endParaRPr/>
          </a:p>
        </p:txBody>
      </p:sp>
      <p:sp>
        <p:nvSpPr>
          <p:cNvPr id="302" name="Google Shape;302;p19"/>
          <p:cNvSpPr/>
          <p:nvPr/>
        </p:nvSpPr>
        <p:spPr>
          <a:xfrm>
            <a:off x="274320" y="3730752"/>
            <a:ext cx="859536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CD9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9"/>
          <p:cNvSpPr/>
          <p:nvPr/>
        </p:nvSpPr>
        <p:spPr>
          <a:xfrm>
            <a:off x="274320" y="3730752"/>
            <a:ext cx="64008" cy="658368"/>
          </a:xfrm>
          <a:prstGeom prst="rect">
            <a:avLst/>
          </a:prstGeom>
          <a:solidFill>
            <a:srgbClr val="02C39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9"/>
          <p:cNvSpPr txBox="1"/>
          <p:nvPr/>
        </p:nvSpPr>
        <p:spPr>
          <a:xfrm>
            <a:off x="438912" y="376732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GenAI Usage</a:t>
            </a:r>
            <a:endParaRPr/>
          </a:p>
        </p:txBody>
      </p:sp>
      <p:sp>
        <p:nvSpPr>
          <p:cNvPr id="305" name="Google Shape;305;p19"/>
          <p:cNvSpPr txBox="1"/>
          <p:nvPr/>
        </p:nvSpPr>
        <p:spPr>
          <a:xfrm>
            <a:off x="2423160" y="3785615"/>
            <a:ext cx="6355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AI used at ideation, scaffold generation, test-case review, and report drafting. Freed time for high-level decisions (scoring model, MCP design). Limitation: no proactive refactoring.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1B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0"/>
          <p:cNvSpPr txBox="1"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Deliverables</a:t>
            </a:r>
            <a:endParaRPr/>
          </a:p>
        </p:txBody>
      </p:sp>
      <p:sp>
        <p:nvSpPr>
          <p:cNvPr id="313" name="Google Shape;313;p20"/>
          <p:cNvSpPr/>
          <p:nvPr/>
        </p:nvSpPr>
        <p:spPr>
          <a:xfrm>
            <a:off x="365760" y="868680"/>
            <a:ext cx="457200" cy="457200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0"/>
          <p:cNvSpPr txBox="1"/>
          <p:nvPr/>
        </p:nvSpPr>
        <p:spPr>
          <a:xfrm>
            <a:off x="365760" y="8686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15" name="Google Shape;315;p20"/>
          <p:cNvSpPr/>
          <p:nvPr/>
        </p:nvSpPr>
        <p:spPr>
          <a:xfrm>
            <a:off x="960120" y="868680"/>
            <a:ext cx="7772400" cy="457200"/>
          </a:xfrm>
          <a:prstGeom prst="rect">
            <a:avLst/>
          </a:prstGeom>
          <a:solidFill>
            <a:srgbClr val="052D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0"/>
          <p:cNvSpPr txBox="1"/>
          <p:nvPr/>
        </p:nvSpPr>
        <p:spPr>
          <a:xfrm>
            <a:off x="1078992" y="905256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Code Repository</a:t>
            </a:r>
            <a:endParaRPr/>
          </a:p>
        </p:txBody>
      </p:sp>
      <p:sp>
        <p:nvSpPr>
          <p:cNvPr id="317" name="Google Shape;317;p20"/>
          <p:cNvSpPr txBox="1"/>
          <p:nvPr/>
        </p:nvSpPr>
        <p:spPr>
          <a:xfrm>
            <a:off x="3090672" y="923544"/>
            <a:ext cx="5577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CD9F0"/>
                </a:solidFill>
                <a:latin typeface="Calibri"/>
                <a:ea typeface="Calibri"/>
                <a:cs typeface="Calibri"/>
                <a:sym typeface="Calibri"/>
              </a:rPr>
              <a:t>Public GitHub — versioned source, commit history, README.md with setup guide</a:t>
            </a:r>
            <a:endParaRPr/>
          </a:p>
        </p:txBody>
      </p:sp>
      <p:sp>
        <p:nvSpPr>
          <p:cNvPr id="318" name="Google Shape;318;p20"/>
          <p:cNvSpPr/>
          <p:nvPr/>
        </p:nvSpPr>
        <p:spPr>
          <a:xfrm>
            <a:off x="365760" y="1435607"/>
            <a:ext cx="457200" cy="457200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0"/>
          <p:cNvSpPr txBox="1"/>
          <p:nvPr/>
        </p:nvSpPr>
        <p:spPr>
          <a:xfrm>
            <a:off x="365760" y="1435607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20" name="Google Shape;320;p20"/>
          <p:cNvSpPr/>
          <p:nvPr/>
        </p:nvSpPr>
        <p:spPr>
          <a:xfrm>
            <a:off x="960120" y="1435607"/>
            <a:ext cx="7772400" cy="457200"/>
          </a:xfrm>
          <a:prstGeom prst="rect">
            <a:avLst/>
          </a:prstGeom>
          <a:solidFill>
            <a:srgbClr val="052D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0"/>
          <p:cNvSpPr txBox="1"/>
          <p:nvPr/>
        </p:nvSpPr>
        <p:spPr>
          <a:xfrm>
            <a:off x="1078992" y="1472184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API Documentation</a:t>
            </a:r>
            <a:endParaRPr/>
          </a:p>
        </p:txBody>
      </p:sp>
      <p:sp>
        <p:nvSpPr>
          <p:cNvPr id="322" name="Google Shape;322;p20"/>
          <p:cNvSpPr txBox="1"/>
          <p:nvPr/>
        </p:nvSpPr>
        <p:spPr>
          <a:xfrm>
            <a:off x="3090672" y="1490472"/>
            <a:ext cx="5577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CD9F0"/>
                </a:solidFill>
                <a:latin typeface="Calibri"/>
                <a:ea typeface="Calibri"/>
                <a:cs typeface="Calibri"/>
                <a:sym typeface="Calibri"/>
              </a:rPr>
              <a:t>Swagger UI (/docs), ReDoc (/redoc), PDF in /docs/ — all endpoints, auth, error codes</a:t>
            </a:r>
            <a:endParaRPr/>
          </a:p>
        </p:txBody>
      </p:sp>
      <p:sp>
        <p:nvSpPr>
          <p:cNvPr id="323" name="Google Shape;323;p20"/>
          <p:cNvSpPr/>
          <p:nvPr/>
        </p:nvSpPr>
        <p:spPr>
          <a:xfrm>
            <a:off x="365760" y="2002536"/>
            <a:ext cx="457200" cy="457200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0"/>
          <p:cNvSpPr txBox="1"/>
          <p:nvPr/>
        </p:nvSpPr>
        <p:spPr>
          <a:xfrm>
            <a:off x="365760" y="200253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25" name="Google Shape;325;p20"/>
          <p:cNvSpPr/>
          <p:nvPr/>
        </p:nvSpPr>
        <p:spPr>
          <a:xfrm>
            <a:off x="960120" y="2002536"/>
            <a:ext cx="7772400" cy="457200"/>
          </a:xfrm>
          <a:prstGeom prst="rect">
            <a:avLst/>
          </a:prstGeom>
          <a:solidFill>
            <a:srgbClr val="052D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0"/>
          <p:cNvSpPr txBox="1"/>
          <p:nvPr/>
        </p:nvSpPr>
        <p:spPr>
          <a:xfrm>
            <a:off x="1078992" y="2039112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Technical Report</a:t>
            </a:r>
            <a:endParaRPr/>
          </a:p>
        </p:txBody>
      </p:sp>
      <p:sp>
        <p:nvSpPr>
          <p:cNvPr id="327" name="Google Shape;327;p20"/>
          <p:cNvSpPr txBox="1"/>
          <p:nvPr/>
        </p:nvSpPr>
        <p:spPr>
          <a:xfrm>
            <a:off x="3090672" y="2057400"/>
            <a:ext cx="5577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CD9F0"/>
                </a:solidFill>
                <a:latin typeface="Calibri"/>
                <a:ea typeface="Calibri"/>
                <a:cs typeface="Calibri"/>
                <a:sym typeface="Calibri"/>
              </a:rPr>
              <a:t>5-page PDF — stack justification, architecture, testing, GenAI declaration (Appendix)</a:t>
            </a:r>
            <a:endParaRPr/>
          </a:p>
        </p:txBody>
      </p:sp>
      <p:sp>
        <p:nvSpPr>
          <p:cNvPr id="328" name="Google Shape;328;p20"/>
          <p:cNvSpPr/>
          <p:nvPr/>
        </p:nvSpPr>
        <p:spPr>
          <a:xfrm>
            <a:off x="365760" y="2569464"/>
            <a:ext cx="457200" cy="457200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0"/>
          <p:cNvSpPr txBox="1"/>
          <p:nvPr/>
        </p:nvSpPr>
        <p:spPr>
          <a:xfrm>
            <a:off x="365760" y="256946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30" name="Google Shape;330;p20"/>
          <p:cNvSpPr/>
          <p:nvPr/>
        </p:nvSpPr>
        <p:spPr>
          <a:xfrm>
            <a:off x="960120" y="2569464"/>
            <a:ext cx="7772400" cy="457200"/>
          </a:xfrm>
          <a:prstGeom prst="rect">
            <a:avLst/>
          </a:prstGeom>
          <a:solidFill>
            <a:srgbClr val="052D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0"/>
          <p:cNvSpPr txBox="1"/>
          <p:nvPr/>
        </p:nvSpPr>
        <p:spPr>
          <a:xfrm>
            <a:off x="1078992" y="2606040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Presentation Slides</a:t>
            </a:r>
            <a:endParaRPr/>
          </a:p>
        </p:txBody>
      </p:sp>
      <p:sp>
        <p:nvSpPr>
          <p:cNvPr id="332" name="Google Shape;332;p20"/>
          <p:cNvSpPr txBox="1"/>
          <p:nvPr/>
        </p:nvSpPr>
        <p:spPr>
          <a:xfrm>
            <a:off x="3090672" y="2624328"/>
            <a:ext cx="5577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CD9F0"/>
                </a:solidFill>
                <a:latin typeface="Calibri"/>
                <a:ea typeface="Calibri"/>
                <a:cs typeface="Calibri"/>
                <a:sym typeface="Calibri"/>
              </a:rPr>
              <a:t>This PPTX — version control, API docs, report highlights, all deliverables</a:t>
            </a:r>
            <a:endParaRPr/>
          </a:p>
        </p:txBody>
      </p:sp>
      <p:sp>
        <p:nvSpPr>
          <p:cNvPr id="333" name="Google Shape;333;p20"/>
          <p:cNvSpPr txBox="1"/>
          <p:nvPr/>
        </p:nvSpPr>
        <p:spPr>
          <a:xfrm>
            <a:off x="365760" y="3273552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Live demo available — Railway deployment at API base URL</a:t>
            </a:r>
            <a:endParaRPr/>
          </a:p>
        </p:txBody>
      </p:sp>
      <p:sp>
        <p:nvSpPr>
          <p:cNvPr id="334" name="Google Shape;334;p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110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0"/>
          <p:cNvSpPr txBox="1"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38100" spcFirstLastPara="1" rIns="381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Luke Price  |  COMP Web Services  |  University of Leeds  |  March 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