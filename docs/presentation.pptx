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1">
                <a:solidFill>
                  <a:srgbClr val="BCD9F0"/>
                </a:solidFill>
                <a:latin typeface="Calibri"/>
              </a:rPr>
              <a:t>COMP  |  Web Services and Web Data  |  University of Leeds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7863840" cy="1645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City Liveability &amp;</a:t>
            </a:r>
            <a:br/>
            <a:r>
              <a:t>Urban Climate Insights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25603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777240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400" b="0" i="0">
                <a:solidFill>
                  <a:srgbClr val="BCD9F0"/>
                </a:solidFill>
                <a:latin typeface="Calibri"/>
              </a:rPr>
              <a:t>A data-driven RESTful API with MCP integration for UK city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365760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Luke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22191"/>
            <a:ext cx="36576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March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3246120"/>
            <a:ext cx="155448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3291839"/>
            <a:ext cx="1554480" cy="502920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749039"/>
            <a:ext cx="155448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BCD9F0"/>
                </a:solidFill>
                <a:latin typeface="Calibri"/>
              </a:rPr>
              <a:t>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3246120"/>
            <a:ext cx="155448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91839"/>
            <a:ext cx="1554480" cy="502920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49039"/>
            <a:ext cx="155448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BCD9F0"/>
                </a:solidFill>
                <a:latin typeface="Calibri"/>
              </a:rPr>
              <a:t>UK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5029200" cy="29260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 Aggregates urban climate, air quality &amp; socioeconomic data for UK cities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 Computes composite liveability scores across 4 weighted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 Detects statistical climate anomalies using z-score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 Delivers city narratives and comparisons via structured REST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 Exposes an MCP server so LLM agents (e.g. Claude) can query city data conversationally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32887"/>
            <a:ext cx="50292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Why this project?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25496"/>
            <a:ext cx="502920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Sits at the intersection of environmental data and practical AI integration</a:t>
            </a:r>
            <a:br/>
            <a:r>
              <a:t>— extends beyond CRUD into an AI-accessible data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80467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850392"/>
            <a:ext cx="1600200" cy="502920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228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307592"/>
            <a:ext cx="16002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BCD9F0"/>
                </a:solidFill>
                <a:latin typeface="Calibri"/>
              </a:rPr>
              <a:t>Automated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6912" y="80467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850392"/>
            <a:ext cx="1600200" cy="502920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1307592"/>
            <a:ext cx="16002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BCD9F0"/>
                </a:solidFill>
                <a:latin typeface="Calibri"/>
              </a:rPr>
              <a:t>UK Cities seeded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90195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947672"/>
            <a:ext cx="1600200" cy="502920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404872"/>
            <a:ext cx="16002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BCD9F0"/>
                </a:solidFill>
                <a:latin typeface="Calibri"/>
              </a:rPr>
              <a:t>MCP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190195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947672"/>
            <a:ext cx="1600200" cy="502920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2404872"/>
            <a:ext cx="160020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BCD9F0"/>
                </a:solidFill>
                <a:latin typeface="Calibri"/>
              </a:rPr>
              <a:t>Analytics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71800"/>
            <a:ext cx="329184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Data source: Open-Meteo Archive API (free, no API key)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41148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Application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114800" cy="4846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4114800" cy="484632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HTTP Clients / LLM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81912"/>
            <a:ext cx="731520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0" i="0">
                <a:solidFill>
                  <a:srgbClr val="1C7293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46504"/>
            <a:ext cx="4114800" cy="4846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46504"/>
            <a:ext cx="4114800" cy="484632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 Routers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31136"/>
            <a:ext cx="731520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0" i="0">
                <a:solidFill>
                  <a:srgbClr val="1C7293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95728"/>
            <a:ext cx="4114800" cy="484632"/>
          </a:xfrm>
          <a:prstGeom prst="rect">
            <a:avLst/>
          </a:prstGeom>
          <a:solidFill>
            <a:srgbClr val="08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95728"/>
            <a:ext cx="4114800" cy="484632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Service Layer (business logic)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731520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0" i="0">
                <a:solidFill>
                  <a:srgbClr val="1C7293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44952"/>
            <a:ext cx="4114800" cy="484632"/>
          </a:xfrm>
          <a:prstGeom prst="rect">
            <a:avLst/>
          </a:prstGeom>
          <a:solidFill>
            <a:srgbClr val="0A8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044952"/>
            <a:ext cx="4114800" cy="484632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SQLAlchemy ORM + Pydantic schemas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94176"/>
            <a:ext cx="4114800" cy="484632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694176"/>
            <a:ext cx="4114800" cy="484632"/>
          </a:xfrm>
          <a:prstGeom prst="rect">
            <a:avLst/>
          </a:prstGeom>
          <a:noFill/>
        </p:spPr>
        <p:txBody>
          <a:bodyPr wrap="none" lIns="38100" rIns="381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SQLite (dev)  /  PostgreSQL (prod)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777240"/>
            <a:ext cx="402336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Technology choices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09728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1133856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1133856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FastAPI — async, auto OpenAPI docs, Pydantic v2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536192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572768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1572768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SQLAlchemy 2.0 — backend-agnostic, mature query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975104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2011680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011680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SQLite (dev) / PostgreSQL via Railway (prod)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414016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2450592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Migrations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2450592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Alembic — versioned, rollback-safe schema changes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2852928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889504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2889504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JWT (HS256) + bcrypt hashing + RBAC (user / admin)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29184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328416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448" y="3328416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fastmcp SDK — 9 tools, mounted at /mcp/sse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730752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3767328"/>
            <a:ext cx="1005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65A82"/>
                </a:solidFill>
                <a:latin typeface="Calibri"/>
              </a:rPr>
              <a:t>Ext.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0448" y="3767328"/>
            <a:ext cx="28346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Open-Meteo — free historical weather, no API 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API Features &amp; Key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64008" cy="1691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832103"/>
            <a:ext cx="4005072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CRUD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088136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Cities — POST / GET / PUT / DELETE /api/v1/cities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289304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Users — register, update profile, admin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90472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Climate readings — ingest, update, bulk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691639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Auto-seeded with 365 days of real Open-Meteo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777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777240"/>
            <a:ext cx="64008" cy="1691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5" y="832103"/>
            <a:ext cx="4005072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1088136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GET /cities/{id}/liveability — composite score (4 dims)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5" y="1289304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GET /cities/compare — side-by-side city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5" y="1490472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GET /cities/{id}/anomalies — z-score outlier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5" y="1691639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GET /cities/{id}/trends — historical climate trends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4206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606040"/>
            <a:ext cx="64008" cy="1508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660904"/>
            <a:ext cx="4005072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" y="2916936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JWT stateless auth — POST /auth/login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118104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RBAC — user vs. admin roles, injected at router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3319272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Rate limiting — 100 req/min via slowapi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3520440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bcrypt password hashing, tamper-proof token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06040"/>
            <a:ext cx="4206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2606040"/>
            <a:ext cx="64008" cy="1508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5" y="2660904"/>
            <a:ext cx="4005072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MCP Server (Advanced)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5" y="2916936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9 AI tools: search, liveability, anomalies, trends,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5" y="3118104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Mounted at /mcp/sse — no separate deployment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5" y="3319272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Claude Desktop connects to Railway URL directly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5" y="3520440"/>
            <a:ext cx="4005072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LLMs query UK city data conversationally via tool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Version Control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931920" cy="29260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Version Control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5087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Public GitHub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88720"/>
            <a:ext cx="237744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Visible commit history from initial scaffold to final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26464"/>
            <a:ext cx="15087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Structured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426464"/>
            <a:ext cx="237744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Descriptive messages — feature, fix, test, config scopes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64208"/>
            <a:ext cx="15087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Alembic 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64208"/>
            <a:ext cx="237744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All schema changes versioned and reversible in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15087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01952"/>
            <a:ext cx="237744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Setup instructions, environment variables, local run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39696"/>
            <a:ext cx="15087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Environment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39696"/>
            <a:ext cx="237744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SKIP_SEED flag prevents external HTTP calls during 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804672"/>
            <a:ext cx="3931920" cy="29260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228 Tests across 11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188720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207008"/>
            <a:ext cx="923544" cy="1920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188720"/>
            <a:ext cx="301752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Full req/resp cycles, in-memory SQLite, seeded fixtures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444752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1463040"/>
            <a:ext cx="923544" cy="1920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301752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Service layer with real (temporary) SQLite sessions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700784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719072"/>
            <a:ext cx="923544" cy="1920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1700784"/>
            <a:ext cx="301752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401 on unauth, 403 on non-admin, tampered JWT rejection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956816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1975104"/>
            <a:ext cx="923544" cy="1920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Utility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956816"/>
            <a:ext cx="301752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Scoring algorithm &amp; SQL validator with edge-case inputs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212848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2231136"/>
            <a:ext cx="923544" cy="1920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Middleware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212848"/>
            <a:ext cx="301752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Rate limiter triggers at threshold; latency logging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505456"/>
            <a:ext cx="411480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Key decision: real SQLite sessions over mocked DB calls — mocks can mask schema-level bugs that only appear when the ORM generates actual SQL.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777240"/>
            <a:ext cx="36576" cy="4023360"/>
          </a:xfrm>
          <a:prstGeom prst="rect">
            <a:avLst/>
          </a:prstGeom>
          <a:solidFill>
            <a:srgbClr val="BC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API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28346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2651760" cy="32918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Swagger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61288"/>
            <a:ext cx="28346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1">
                <a:solidFill>
                  <a:srgbClr val="02C39A"/>
                </a:solidFill>
                <a:latin typeface="Calibri"/>
              </a:rPr>
              <a:t>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9047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Interactive try-it-out for every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Auto-generated from Python type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3911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Auth flow: Authorize button with JWT bearer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777240"/>
            <a:ext cx="283464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804672"/>
            <a:ext cx="2651760" cy="32918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ReDoc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61288"/>
            <a:ext cx="28346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88720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1">
                <a:solidFill>
                  <a:srgbClr val="02C39A"/>
                </a:solidFill>
                <a:latin typeface="Calibri"/>
              </a:rPr>
              <a:t>/redoc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49047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Clean, reference-style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76479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Schema definitions with example payloads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03911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Accessible without authentication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777240"/>
            <a:ext cx="2834640" cy="384048"/>
          </a:xfrm>
          <a:prstGeom prst="rect">
            <a:avLst/>
          </a:prstGeom>
          <a:solidFill>
            <a:srgbClr val="02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804672"/>
            <a:ext cx="2651760" cy="32918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PDF Export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61288"/>
            <a:ext cx="28346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188720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1">
                <a:solidFill>
                  <a:srgbClr val="02C39A"/>
                </a:solidFill>
                <a:latin typeface="Calibri"/>
              </a:rPr>
              <a:t>docs/api_documentation.pdf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49047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Submitted to Minerva and linked in README.md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176479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Generated from Swagger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039112"/>
            <a:ext cx="265176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 Full endpoint list with request/response schemas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337560"/>
            <a:ext cx="41148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All endpoints document: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639312"/>
            <a:ext cx="411480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 HTTP method, path, and path/query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858768"/>
            <a:ext cx="411480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 Request body schema (Pydantic models)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078224"/>
            <a:ext cx="411480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 Response model and status codes (200, 201, 401, 403, 404, 422, 429)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297680"/>
            <a:ext cx="4114800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 Authentication requirements and example payloads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337560"/>
            <a:ext cx="4206240" cy="896112"/>
          </a:xfrm>
          <a:prstGeom prst="rect">
            <a:avLst/>
          </a:prstGeom>
          <a:solidFill>
            <a:srgbClr val="E8F4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3383280"/>
            <a:ext cx="3986784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Submission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639312"/>
            <a:ext cx="3986784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PDF referenced in README.md</a:t>
            </a:r>
            <a:br/>
            <a:r>
              <a:t>Hosted in GitHub repo under /docs/</a:t>
            </a:r>
            <a:br/>
            <a:r>
              <a:t>Also linked in Technical Report appendix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Technical Report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41248"/>
            <a:ext cx="192024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Stack 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859536"/>
            <a:ext cx="635508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FastAPI chosen over Django for native async, auto-OpenAPI, and Pydantic v2 throughput. NoSQL ruled out — relational JOINs across cities, climate, and socioeconomic data are more efficient.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3619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572768"/>
            <a:ext cx="192024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Scoring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591056"/>
            <a:ext cx="635508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Composite liveability: climate comfort 25%, affordability 30%, safety 25%, environment 20%. Each metric normalised 0–100 using domain-specific functions (e.g. AQI inverted).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6771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6771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304288"/>
            <a:ext cx="192024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322576"/>
            <a:ext cx="635508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Z-score method: compute mean/std across all stored readings for a city+metric pair; flag dates where |z| &gt; 2.0. Statistically sound; no external ML library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923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035808"/>
            <a:ext cx="192024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Key Design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054096"/>
            <a:ext cx="635508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Router ordering — GET /cities/compare must register before GET /cities/{city_id} or FastAPI matches 'compare' as a city_id. Documented in main.py.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3075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3075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767328"/>
            <a:ext cx="192024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GenAI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785615"/>
            <a:ext cx="6355080" cy="5486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AI used at ideation, scaffold generation, test-case review, and report drafting. Freed time for high-level decisions (scoring model, MCP design). Limitation: no proactive refactoring.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45720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868680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905256"/>
            <a:ext cx="1920240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Code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923544"/>
            <a:ext cx="5577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BCD9F0"/>
                </a:solidFill>
                <a:latin typeface="Calibri"/>
              </a:rPr>
              <a:t>Public GitHub — versioned source, commit history, README.md with setup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35607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35607"/>
            <a:ext cx="45720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435607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472184"/>
            <a:ext cx="1920240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API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1490472"/>
            <a:ext cx="5577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BCD9F0"/>
                </a:solidFill>
                <a:latin typeface="Calibri"/>
              </a:rPr>
              <a:t>Swagger UI (/docs), ReDoc (/redoc), PDF in /docs/ — all endpoints, auth, error codes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02536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02536"/>
            <a:ext cx="45720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002536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039112"/>
            <a:ext cx="1920240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Technical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2057400"/>
            <a:ext cx="5577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BCD9F0"/>
                </a:solidFill>
                <a:latin typeface="Calibri"/>
              </a:rPr>
              <a:t>5-page PDF — stack justification, architecture, testing, GenAI declaration (Appendix)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2569464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606040"/>
            <a:ext cx="1920240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Presentation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2624328"/>
            <a:ext cx="557784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 i="0">
                <a:solidFill>
                  <a:srgbClr val="BCD9F0"/>
                </a:solidFill>
                <a:latin typeface="Calibri"/>
              </a:rPr>
              <a:t>This PPTX — version control, API docs, report highlights, all deliverables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Live demo available — Railway deployment at API base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39312"/>
            <a:ext cx="8412480" cy="32918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0" i="0">
                <a:solidFill>
                  <a:srgbClr val="BCD9F0"/>
                </a:solidFill>
                <a:latin typeface="Calibri"/>
              </a:rPr>
              <a:t>Questions welcome on any aspect of the implementation, design decisions, or GenAI usage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Luke Price  |  COMP Web Services  |  University of Leeds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